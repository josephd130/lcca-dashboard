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Two deliverables: the patched framework workbook (v1.2.0) and a companion decision workbook with the MBT and SRB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MBT and SRB files are older builds than the base file; they still carry a visible Indirect Cost Items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item here is from the NS review docs. The last one is a real policy conflict for AIP-funded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latent bugs sit in the disabled HMA Rehab template: a year-applied cell that adds the construction year, and a salvage reference to an empty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from the NS review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a per-category "share lost during closure" factor on RevenueData and a funding-source switch for the AIP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for the next revision: one template per pavement type with the lost-revenue option as a switch, plus a consistency check macro across templates.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cell-by-cell record, 463 cells, is Appendix A of the Technical Change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edits made in the sheet XML. openpyxl or a re-save would have stripped the ActiveX controls and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Summary formulas read the Database sheet the form writes, so they follow whatever alternatives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has a source; the research note in the repo says which figures still need the primary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a formula. Change the discount rate cell and the sensitivity, tornado, map and charts all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chart Aeronautics asked for when they commissioned the lost-revenue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Break-even table on the sheet gives the exact tie points: PCC bids +9.9% or salvage below 2.5% of initial cost flips MBT.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Break-even values come from the BREAK-EVEN VALUES block on the sheet, computed in closed form, no goal seek.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SRB break-even daily revenue is about $23,000 per day against $4,344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first-open check: pick an airport, set Yes, add one HMA and one PCC alternative, confirm Summary and Alt sheet columns L:N.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alternatives per sheet, HMA against PCC, is how the framework is used; policy years are editable if TDOT revises the maintenance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Excel-first; the web option is noted only because IT blocking was the reviewer's first obstacle.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TDOT Aeronautics LCCA Framework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v1.1.2 and the v1.2.0 update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pavement type selection with runway-closure lost revenue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Research Associates, Inc.  |  Task 005935.00000.00000.TASK2  |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reviewed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files from the Neel-Schaffer review package, read line by line down to the VBA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270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20240"/>
            <a:ext cx="232257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v1.1.2 base (ARA, 18 Aug 2026)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run: Runway 18-36 reconstruction, HMA vs PCC with lost revenue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SRB run: runway reconstruction, PCC vs HMA with lost revenue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user-manual review and annotated screenshots (24 Aug 2026)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0712" y="15270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1920240"/>
            <a:ext cx="232257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 in the five alternative templates and the General Information sheet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VBA that builds alternatives and the Summary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reviewer experienced on a locked-down TDOT machine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results sheets can support a pavement-type decision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99632" y="15270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1920240"/>
            <a:ext cx="232257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applied inside the workbook XML so the VBA project, 192 ActiveX comboboxes, charts and validations are untouched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reproduced by an independent engine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recalculation of every workbook with LibreOffice Calc before release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reviewer hit first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 Mittlesteadt (Neel-Schaffer) never reached the calculations</a:t>
            </a:r>
            <a:endParaRPr lang="en-US" sz="1300" dirty="0"/>
          </a:p>
        </p:txBody>
      </p:sp>
      <p:pic>
        <p:nvPicPr>
          <p:cNvPr id="4" name="Image 0" descr="/tmp/claude-0/-home-user-lcca-dashboard/444ca227-15d7-51d4-a51e-a0ae3dbe81ed/scratchpad/deck/img/before_blo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480560" cy="24089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86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TDOT IT blocks ActiveX outright. There is no "Enable Content" prompt, so the pay-item dropdowns and the Alternative Setup button are dead on arrival.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141732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ActiveX blocked with no prompt; instructions assumed one would appear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pay item (prime coat) typed at the bottom of Pay_Items never showed in the dropdown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RevenueData is hidden and the manual never says how to unhide a sheet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airport outside the 17 with revenue data produced #N/A in the alternative and the Summary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D33:D37 use gray text, not gray fill, so users cannot tell what is editable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rate rule changed in 2022 (OMB A-94 real rate, 2.0% for 2026, not the old 7%); the tool defaults to 3 percent and 30 years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 defects in v1.1.2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the audit, not in the review. Each one changes the answer.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3657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item 1 excluded from initial construction subtotal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Non-indirect HMA, PCC and Rehab templates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cost understated by the first line item, often the largest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percent not applied to initial construction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templates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maintenance and rehab carry engineering; biases toward the construction-heavy alternative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period only sets the salvage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templates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20-year run still counts maintenance at years 24 and 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period 10 while Overview says 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Information D33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Salvage discounted at year 10 unless the user notices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XLOOKUP for airport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templates, D39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#N/A for any airport outside the 17; #NAME? on Excel 2019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blank guard on PCC pay-item rows 14 to 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PCC templates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#N/A in Item Cost and Total once a row is left empty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pay items described "Separation Geotextile"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Pay_Items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 by description always returns the first, wrong unit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Airport dropdown stops at row 84 of 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Information D9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airports cannot be selected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Closure days ship as zero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templates F4:F10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analyst re-invented production-rate formulas by hand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could not support a decision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Aeronautics saw at the end of an analysis in v1.1.2</a:t>
            </a:r>
            <a:endParaRPr lang="en-US" sz="1300" dirty="0"/>
          </a:p>
        </p:txBody>
      </p:sp>
      <p:pic>
        <p:nvPicPr>
          <p:cNvPr id="4" name="Image 0" descr="/tmp/claude-0/-home-user-lcca-dashboard/444ca227-15d7-51d4-a51e-a0ae3dbe81ed/scratchpad/deck/img/before_alt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2926080" cy="25009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chart: positions 1 to 31 instead of years, discounted and undiscounted bars on one axis, and a title that says "Alternative 4" on the Alt 1 sheet because VBA sets it once.</a:t>
            </a:r>
            <a:endParaRPr lang="en-US" sz="1050" dirty="0"/>
          </a:p>
        </p:txBody>
      </p:sp>
      <p:pic>
        <p:nvPicPr>
          <p:cNvPr id="6" name="Image 1" descr="/tmp/claude-0/-home-user-lcca-dashboard/444ca227-15d7-51d4-a51e-a0ae3dbe81ed/scratchpad/deck/img/before_sum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417320"/>
            <a:ext cx="4937760" cy="160316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749040" y="3108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two bars per alternative on a raw-number axis, #N/A for any airport outside the revenue list. Nothing about where the difference comes from, whether it holds at 7 percent, or how many days the runway closes.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3749040" y="379476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886200" y="38404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reason for the 2026 update, runway closures and lost revenue, appears nowhere in the outputs.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questions the tool was hiding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bugs. Assumptions that decide the answer and were invisible in the outputs.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$3.9M vs $0.4M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01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SRB salvage credit, PCC vs HMA. PCC recovers 25% of total initial cost; HMA 12.5% of one mill-and-overlay. That single line is larger than the NPW gap.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399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FAA rate?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01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PGL 22-01 (2022) replaced the fixed 7% with the OMB A-94 real rate, 2.0% for 2026. TDOT uses 3% over 30 years. MBT changes winner at 4.5%, so the rule decides the answer.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587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of gross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9900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 counts gross fuel sales, hangar rent and tenant revenue as lost on every closure day. Margin-based revenue would be far lower.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587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of 79 airports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9900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RevenueData covers 17 airports. MBT and MQY rows are identical; XNX and M54 hold text where numbers belong.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 does not change any of these. It makes each one visible and testable so Aeronautics can decide them deliberately.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cause: five copies of one template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defects exist, and why they sit in some templates and not others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workbook is built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74520"/>
            <a:ext cx="369417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pavement type has a hidden template sheet of about 1,600 near-identical formulas. VBA copies the template to create an alternative.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lost-revenue feature was added by cloning two templates and editing the clones. There is no shared formula source, so a fix made in one copy never reaches the others.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inputs (analysis period, revenue lookup) were wired to one cell each rather than through the whole template.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8032" y="148132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produced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874520"/>
            <a:ext cx="369417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item 1 dropped in three templates, correct in the two 2026 clones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guard on row 13 in every template, missing on rows 14 to 22 of the PCC templates only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 wired to the salvage row and nothing else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guard present on General Information, lost when the lookup was copied into the templates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helper rows placed by hand at row 37 plus the policy year, with the category reference removed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defects that move money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(evidence in the file)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item 1 excluded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 G24 = SUM(G14:G23) while items occupy rows 13 to 22 (A13 = 1). The indirect clones read SUM(G13:G22), so the range was corrected there and never propagated.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G24 = SUM(G13:G22) in TMP(NewHMA), TMP(NewPCC), TMP(HMARehab)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engineering on initial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26 is formatted and included in the Total (G27 = SUM(G24:G26)) but empty. The M&amp;R blocks all carry Mobilization then Engineering; the initial block stopped after Mobilization.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B26 = "Engineering"; G26 = (D37/100) x G24 in all five templates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period ignored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D33 is referenced once per template, by the salvage row. Every activity year comes straight from Maintenance Policies with no comparison to D33.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discounted cost: IF(year &gt; D33, 0, cost / (1+r)^year); default D33 = 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#N/A on missing airport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Information D39 guards the lookup with COUNTIF; the templates copied only the inner SUM(XLOOKUP(...)). XLOOKUP also fails on Excel 2019 (#NAME?).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 = IF(D38="Yes", SUMIF chain over RevenueData columns B:H, 0); G2 warning text when F2 =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v1.2.0: calculation fixes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workbook, same workflow, same VBA. Only the arithmetic changed.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3657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construction subtotal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SUM(G14:G23)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SUM(G13:G22), pay item 1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on initial construction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row added, same percent as M&amp;R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salvage year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 beyond the period drop to $0; default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Airport revenue lookup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XLOOKUP, #N/A if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SUMIF chain, $0 plus a visible warning when the airport has no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PCC pay-item rows 14 to 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blank guard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guarded like row 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Geotextile pay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identical descriptions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suffixed with the spec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Closure durations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production-rate defaults from the MBT and SRB runs, still editable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Airport dropdown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9 to 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10 to 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 Rehab template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latent bugs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in case the option is re-enabled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v1.2.0: usability and charts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ActiveX "blocked content" steps (Trust Center, then restart Excel, or ask IT); correct button name; D9:D39; how to unhide RevenueData and the 17-airport 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Year-indexed data keyed on Year Applied; calendar years on the axis; undiscounted direct and lost revenue stacked; mixed discounted series 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axes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chart in both workbooks now names its x and y axis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sheet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Formula-driven, no macro: results table with PW by category, delta to lowest, closure days and runway availability; a RealCost-style comparison block (agency and user cost as PW and EUAC); five charts; navigation buttons that work with macros blocked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Pavement section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on the Summary: each layer's thickness read back from the quantities, the section as a string for the description, a cross-check against the excavation quantity, and two stacked charts (mainline, and mainline plus shoulder when entered)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and first-run 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How-to card and a live "still needed" status line on General Information; navigation row on every alternative sheet; lowest-cost row highlighted on the Summary; tab colours; General Information prints on one 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sheet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reference sheet: every calculation once, with the formula, the rule in plain English and its source; a live block reading the current rate, period and capital recovery factor; and the assumptions a reviewer will ask about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Values sheet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reference sheet: what TDOT manages, typical runway geometry and areas, workbook unit costs beside 2025 bids, closure production rates, FAA and OMB discount-rate rules, service lives, live daily revenue for the 17 airports; hints beside the General Information inputs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Housekeeping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names removed from cell notes and document properties; dead links, cached printer settings, Power Query stub and SharePoint path removed; sources on Typical Values as plain text; full recalculation on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changed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wording (NS rewrite pending Mat's approval); salvage, lost-revenue and AIP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install: the workbook is self-contained. The VBA project is untouched; Alternative Setup still writes columns A:E of the Summary as before.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 users start 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form, same grey cells. What is new is the guidance around them.</a:t>
            </a:r>
            <a:endParaRPr lang="en-US" sz="1300" dirty="0"/>
          </a:p>
        </p:txBody>
      </p:sp>
      <p:pic>
        <p:nvPicPr>
          <p:cNvPr id="4" name="Image 0" descr="/tmp/claude-0/-home-user-lcca-dashboard/444ca227-15d7-51d4-a51e-a0ae3dbe81ed/scratchpad/deck/img/general_infor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234440"/>
            <a:ext cx="4389120" cy="313732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417487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how-to card beside the logo, a status line that names whatever input is still empty and turns green when the form is complete, banded section headings, and buttons to the Summary and the Typical Values sheet.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Summary sheet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data loaded. Table, verdict line, RealCost-style comparison block, five charts, all live formulas.</a:t>
            </a:r>
            <a:endParaRPr lang="en-US" sz="1300" dirty="0"/>
          </a:p>
        </p:txBody>
      </p:sp>
      <p:pic>
        <p:nvPicPr>
          <p:cNvPr id="4" name="Image 0" descr="/tmp/claude-0/-home-user-lcca-dashboard/444ca227-15d7-51d4-a51e-a0ae3dbe81ed/scratchpad/deck/img/summary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98448"/>
            <a:ext cx="7132320" cy="35894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9062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block under the verdict line follows the RealCost layout: agency and user cost, each as present worth and EUAC.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values for the inputs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sheet answering "is this number reasonable" while filling in General Information.</a:t>
            </a:r>
            <a:endParaRPr lang="en-US" sz="1300" dirty="0"/>
          </a:p>
        </p:txBody>
      </p:sp>
      <p:pic>
        <p:nvPicPr>
          <p:cNvPr id="4" name="Image 0" descr="/tmp/claude-0/-home-user-lcca-dashboard/444ca227-15d7-51d4-a51e-a0ae3dbe81ed/scratchpad/deck/img/typical_val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17373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5462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each Pay_Items default read live from the workbook, beside recent bid prices and what they mean. Six more sections cover system context, runway geometry, closure rates, discount rates and service lives.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1182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TDOT Aeronautics manages 78 public-use airports; 69 are in the NPIAS and about 70 are in the pavement management network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TN general aviation runway: 4,000 to 6,000 ft by 75 or 100 ft, which is 33,000 to 67,000 SY of mainline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$130 per ton asphalt default sits below 2025 southeastern bids of $185 to $232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rate: TDOT 3 percent; FAA now points to the OMB A-94 real rate, 2.0 percent for 2026, not the old 7 percent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workbook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and SRB already loaded, plus a blank TEMPLATE sheet. Yellow cells drive every table and chart.</a:t>
            </a:r>
            <a:endParaRPr lang="en-US" sz="1300" dirty="0"/>
          </a:p>
        </p:txBody>
      </p:sp>
      <p:pic>
        <p:nvPicPr>
          <p:cNvPr id="4" name="Image 0" descr="/tmp/claude-0/-home-user-lcca-dashboard/444ca227-15d7-51d4-a51e-a0ae3dbe81ed/scratchpad/deck/img/MBT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20729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535987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line: which alternative is lower, by how much, and two robustness flags a reviewer can read in five seconds. Shown here for MBT at TDOT settings.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present worth by category, EUAC, cost per SY, closure days, runway availability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VALUES: the daily revenue, bid level, salvage fraction and discount rate at which the two tie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pre-run scenarios, a rate-by-salvage decision map, a tornado, and a live 1,000-draw simulation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sheet: copy it, paste the next project's costs and closure days, done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difference comes from</a:t>
            </a:r>
            <a:endParaRPr lang="en-US" sz="2800" dirty="0"/>
          </a:p>
        </p:txBody>
      </p:sp>
      <p:pic>
        <p:nvPicPr>
          <p:cNvPr id="3" name="Image 0" descr="/tmp/claude-0/-home-user-lcca-dashboard/444ca227-15d7-51d4-a51e-a0ae3dbe81ed/scratchpad/deck/img/MBT_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19878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13082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bridge from HMA to PCC present worth. PCC costs $3.1M more to build and earns it back through $1.9M less maintenance and $1.1M less rehabilitation; salvage and lost revenue are small here.</a:t>
            </a:r>
            <a:endParaRPr lang="en-US" sz="1050" dirty="0"/>
          </a:p>
        </p:txBody>
      </p:sp>
      <p:pic>
        <p:nvPicPr>
          <p:cNvPr id="5" name="Image 1" descr="/tmp/claude-0/-home-user-lcca-dashboard/444ca227-15d7-51d4-a51e-a0ae3dbe81ed/scratchpad/deck/img/MBT_closu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88026"/>
            <a:ext cx="8229600" cy="12778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91163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timeline, bubble size is days closed. HMA closes the runway seven times for 57 days; PCC twice for 27 days.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the answer hold?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present worth against discount rate. Blue is HMA, orange is PCC. TDOT 3 percent and FAA AIP 7 percent are marked.</a:t>
            </a:r>
            <a:endParaRPr lang="en-US" sz="1300" dirty="0"/>
          </a:p>
        </p:txBody>
      </p:sp>
      <p:pic>
        <p:nvPicPr>
          <p:cNvPr id="4" name="Image 0" descr="/tmp/claude-0/-home-user-lcca-dashboard/444ca227-15d7-51d4-a51e-a0ae3dbe81ed/scratchpad/deck/img/MBT_s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31920" cy="18994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31679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MBT: PCC wins below 4.5 percent, HMA above. At the FAA AIP rate the answer reverses.</a:t>
            </a:r>
            <a:endParaRPr lang="en-US" sz="1050" dirty="0"/>
          </a:p>
        </p:txBody>
      </p:sp>
      <p:pic>
        <p:nvPicPr>
          <p:cNvPr id="6" name="Image 1" descr="/tmp/claude-0/-home-user-lcca-dashboard/444ca227-15d7-51d4-a51e-a0ae3dbe81ed/scratchpad/deck/img/SRB_s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189947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54880" y="331679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SRB: HMA wins at every rate above 2.5 percent. The gap widens as the rate rises.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simulation: 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joint draws on rate, bids, closures, salvage and revenue share. Probability PCC is the cheaper alternative: 52 percent at MBT, 18 percent at SRB. Press F9 in the workbook to redraw.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flip the answer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MBT. PCC minus HMA present worth when one input moves across its plausible range. Bars crossing zero change the winner.</a:t>
            </a:r>
            <a:endParaRPr lang="en-US" sz="1300" dirty="0"/>
          </a:p>
        </p:txBody>
      </p:sp>
      <p:pic>
        <p:nvPicPr>
          <p:cNvPr id="4" name="Image 0" descr="/tmp/claude-0/-home-user-lcca-dashboard/444ca227-15d7-51d4-a51e-a0ae3dbe81ed/scratchpad/deck/img/MBT_torn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210475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567797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prices and the discount rate can flip MBT; closure durations, lost revenue, the analysis period and HMA salvage cannot. The same view for SRB shows only bids and the discount rate matter.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Break-even, MBT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PCC bid level that ties the two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PCC salvage credit that ties the two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 of initial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rate at which the winner changes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two runs say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TDOT settings: 3 percent, 30 years, lost revenue on, policy salvage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MBT (Murfreesboro)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SRB (Upper Cumberland)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present worth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PCC by $781k (8.9%)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 by $586k (4.1%)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at FAA 7%?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flips at 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with zero salvage?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$33k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Closure days over 30 years, HMA / PCC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/ 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/ 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PCC bid change that ties the two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PCC is lower (simulation)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1188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36576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MBT: both margins are inside estimating noise. The answer is a discount-rate and salvage-policy call, not an engineering one.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361188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36576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SRB: HMA wins on cost, PCC halves the closure days, and no plausible daily revenue closes the gap. The decision is what a runway-day is worth.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before release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v1.2.0, full recalculation in LibreOffice Calc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2,240 formulas incl. the new Summary, 0 errors (v1.1.2 shows 99 error cells under the same recalc)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applied to the populated MBT workbook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NPW unchanged: $8,809,266 and $8,028,734; PCC blank rows now 0, not #N/A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year-indexed chart columns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plus lost revenue reconciles to activity totals; discounted column sums to NPW to the dollar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workbook, full recalculation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47,265 formulas, 0 errors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workbook against an independent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NPW, categories, break-evens, sensitivity, tornado, 12 scenarios and the decision map agree to the dollar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Summary sheet on the MBT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Table, verdict, categories and closure days match; six charts render; template reads "No alternatives yet" with no errors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project run end to 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CKV Runway 17-35 built on the blank template: framework, decision TEMPLATE and an independent engine agree to the dollar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worked 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GKT Runway 10-28 (three alternatives, no shoulders) and MKL Runway 2-20 (four alternatives, 25 ft shoulders): 104 independent checks pass; section read-back returns the designed sections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 click-through (LibreOffice API)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Buttons land where they should; 7% flips the verdict as flagged; 20 years drops late closures; unknown airport gives $0 lost revenue with a warning; deleting an alternative shifts the table with no #REF!; ties and four alternatives read cleanly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alternative-sheet charts in Excel itself (no Excel here); a first-open check is in the 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TDOT uses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only. No add-ins. The decision workbook has no macros at 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1D2733"/>
          </a:solidFill>
          <a:ln w="12700">
            <a:solidFill>
              <a:srgbClr val="1D27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framework as before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v1.2.0, enable content, fill General Information, build alternatives with Alternative Setup. Click View Summary: categories, closures, the 7 percent flag and five charts, no import needed.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502920" cy="502920"/>
          </a:xfrm>
          <a:prstGeom prst="ellipse">
            <a:avLst/>
          </a:prstGeom>
          <a:solidFill>
            <a:srgbClr val="1D2733"/>
          </a:solidFill>
          <a:ln w="12700">
            <a:solidFill>
              <a:srgbClr val="1D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TEMPLATE sheet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60604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decision workbook, right-click TEMPLATE, Move or Copy, rename. Paste the base costs and closure days from each Alt sheet into the yellow cells.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502920" cy="502920"/>
          </a:xfrm>
          <a:prstGeom prst="ellipse">
            <a:avLst/>
          </a:prstGeom>
          <a:solidFill>
            <a:srgbClr val="1D2733"/>
          </a:solidFill>
          <a:ln w="12700">
            <a:solidFill>
              <a:srgbClr val="1D27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decision blocks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60604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BREAK-EVEN VALUES, the scenario scorecard and the decision map. Change any yellow cell and every chart follows. F9 redraws the simulation.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8988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for Aeronautics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783080"/>
            <a:ext cx="369417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Salvage policy: keep 25% of initial for PCC and 12.5% of one overlay for HMA, or move both to a remaining-life basis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 basis: gross receipts or a per-category share lost during closure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AIP projects: enforce 7% and 20 years, or show both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RevenueData: confirm MBT vs MQY, fix XNX and M54, add the other 62 airports or state the rule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text: adopt the NS rewrite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8032" y="138988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783080"/>
            <a:ext cx="369417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open in Excel: run the first-open check in the notes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v1.2.0 and the decision workbook to NS for a second pass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 rehabilitation template is still "Coming soon" if TDOT wants rehab alternatives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later: a no-macro web version would remove the ActiveX problem entirely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D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 now computes what it says it computes, shows why one alternative wins, and shows how many runway days that costs.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TDOA_LCCA_Framework_v1.2.0_ARA_09112026.xlsm  |  TDOT_LCCA_Decision_Workbook.xlsx  |  Technical Change Record  |  change notes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TDOT Aeronautics LCCA Framework: review and v1.2.0 update</dc:title>
  <dc:subject>PptxGenJS Presentation</dc:subject>
  <dc:creator>Applied Research Associates</dc:creator>
  <cp:lastModifiedBy>Applied Research Associates</cp:lastModifiedBy>
  <cp:revision>1</cp:revision>
  <dcterms:created xsi:type="dcterms:W3CDTF">2026-09-13T00:10:00Z</dcterms:created>
  <dcterms:modified xsi:type="dcterms:W3CDTF">2026-09-13T00:10:00Z</dcterms:modified>
</cp:coreProperties>
</file>